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T Firs Neue Bold" charset="1" panose="02000803030000020004"/>
      <p:regular r:id="rId17"/>
    </p:embeddedFont>
    <p:embeddedFont>
      <p:font typeface="TT Firs Neue" charset="1" panose="02000503030000020004"/>
      <p:regular r:id="rId18"/>
    </p:embeddedFont>
    <p:embeddedFont>
      <p:font typeface="Times New Roman Bold" charset="1" panose="020208030705050203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7.jpe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43.png" Type="http://schemas.openxmlformats.org/officeDocument/2006/relationships/image"/><Relationship Id="rId5" Target="../media/image4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47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715" y="2115128"/>
            <a:ext cx="7498221" cy="7498221"/>
          </a:xfrm>
          <a:custGeom>
            <a:avLst/>
            <a:gdLst/>
            <a:ahLst/>
            <a:cxnLst/>
            <a:rect r="r" b="b" t="t" l="l"/>
            <a:pathLst>
              <a:path h="7498221" w="7498221">
                <a:moveTo>
                  <a:pt x="0" y="0"/>
                </a:moveTo>
                <a:lnTo>
                  <a:pt x="7498220" y="0"/>
                </a:lnTo>
                <a:lnTo>
                  <a:pt x="7498220" y="7498221"/>
                </a:lnTo>
                <a:lnTo>
                  <a:pt x="0" y="749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27204"/>
            <a:ext cx="6572250" cy="6232592"/>
          </a:xfrm>
          <a:custGeom>
            <a:avLst/>
            <a:gdLst/>
            <a:ahLst/>
            <a:cxnLst/>
            <a:rect r="r" b="b" t="t" l="l"/>
            <a:pathLst>
              <a:path h="6232592" w="6572250">
                <a:moveTo>
                  <a:pt x="0" y="0"/>
                </a:moveTo>
                <a:lnTo>
                  <a:pt x="6572250" y="0"/>
                </a:lnTo>
                <a:lnTo>
                  <a:pt x="6572250" y="6232592"/>
                </a:lnTo>
                <a:lnTo>
                  <a:pt x="0" y="62325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05238" y="7328354"/>
            <a:ext cx="2592336" cy="731379"/>
            <a:chOff x="0" y="0"/>
            <a:chExt cx="682755" cy="1926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71AEFF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11142"/>
                  </a:solidFill>
                  <a:latin typeface="TT Firs Neue"/>
                  <a:ea typeface="TT Firs Neue"/>
                  <a:cs typeface="TT Firs Neue"/>
                  <a:sym typeface="TT Firs Neue"/>
                </a:rPr>
                <a:t>Dive Deeper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305238" y="3725390"/>
            <a:ext cx="8954062" cy="112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Cyber Th</a:t>
            </a:r>
            <a:r>
              <a:rPr lang="en-US" sz="901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reat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05238" y="6029163"/>
            <a:ext cx="6572165" cy="91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</a:pPr>
            <a:r>
              <a:rPr lang="en-US" sz="2663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An Introduction to Cyber Threats and </a:t>
            </a:r>
          </a:p>
          <a:p>
            <a:pPr algn="l">
              <a:lnSpc>
                <a:spcPts val="3728"/>
              </a:lnSpc>
            </a:pPr>
            <a:r>
              <a:rPr lang="en-US" sz="2663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AI-Driven Detection Systems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305238" y="4760868"/>
            <a:ext cx="6789360" cy="1122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Analyzer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49002"/>
            <a:ext cx="7088850" cy="807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Introdu</a:t>
            </a: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ction: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7700" y="2972186"/>
            <a:ext cx="9627471" cy="543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2899" indent="-306450" lvl="1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Cyber threats are growing exponentially, affecting individuals, businesses, and governments worldwide.</a:t>
            </a:r>
          </a:p>
          <a:p>
            <a:pPr algn="l">
              <a:lnSpc>
                <a:spcPts val="3974"/>
              </a:lnSpc>
            </a:pPr>
          </a:p>
          <a:p>
            <a:pPr algn="l" marL="612899" indent="-306450" lvl="1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Cybersecurity is crucial to protect sensitive data, maintain trust, and ensure uninterrupted digital operations.</a:t>
            </a:r>
          </a:p>
          <a:p>
            <a:pPr algn="l">
              <a:lnSpc>
                <a:spcPts val="3974"/>
              </a:lnSpc>
            </a:pPr>
          </a:p>
          <a:p>
            <a:pPr algn="l" marL="612899" indent="-306450" lvl="1">
              <a:lnSpc>
                <a:spcPts val="3974"/>
              </a:lnSpc>
              <a:buFont typeface="Arial"/>
              <a:buChar char="•"/>
            </a:pPr>
            <a:r>
              <a:rPr lang="en-US" sz="283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Our project: AI-enabled Cyber Threat Analyzer — detects, predicts, and prevents cyber attacks in real-time.</a:t>
            </a:r>
          </a:p>
          <a:p>
            <a:pPr algn="l">
              <a:lnSpc>
                <a:spcPts val="397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60759" y="1962409"/>
            <a:ext cx="5560541" cy="4114800"/>
          </a:xfrm>
          <a:custGeom>
            <a:avLst/>
            <a:gdLst/>
            <a:ahLst/>
            <a:cxnLst/>
            <a:rect r="r" b="b" t="t" l="l"/>
            <a:pathLst>
              <a:path h="4114800" w="5560541">
                <a:moveTo>
                  <a:pt x="0" y="0"/>
                </a:moveTo>
                <a:lnTo>
                  <a:pt x="5560541" y="0"/>
                </a:lnTo>
                <a:lnTo>
                  <a:pt x="55605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426550" y="2263734"/>
            <a:ext cx="4068420" cy="1531205"/>
          </a:xfrm>
          <a:custGeom>
            <a:avLst/>
            <a:gdLst/>
            <a:ahLst/>
            <a:cxnLst/>
            <a:rect r="r" b="b" t="t" l="l"/>
            <a:pathLst>
              <a:path h="1531205" w="4068420">
                <a:moveTo>
                  <a:pt x="0" y="0"/>
                </a:moveTo>
                <a:lnTo>
                  <a:pt x="4068419" y="0"/>
                </a:lnTo>
                <a:lnTo>
                  <a:pt x="4068419" y="1531205"/>
                </a:lnTo>
                <a:lnTo>
                  <a:pt x="0" y="15312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6900" y="872635"/>
            <a:ext cx="7088850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Problem St</a:t>
            </a: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040297"/>
            <a:ext cx="12437316" cy="6299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746" indent="-312873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sz="2898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Increasing Cyber Threats: Modern attacks 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re more sophisticated, frequent, and damaging.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</a:p>
          <a:p>
            <a:pPr algn="l" marL="625746" indent="-312873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Limitations of Traditional Systems: Conventional securi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ty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ols 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 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fte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iv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, no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dic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v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. 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</a:p>
          <a:p>
            <a:pPr algn="l" marL="625746" indent="-312873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Breache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&amp;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ss: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iv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infor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ation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ind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iv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idual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an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org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z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 at const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ris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k.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</a:p>
          <a:p>
            <a:pPr algn="l" marL="625746" indent="-312873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k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al-T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im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ge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e: Organ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zat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str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u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ggle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ies bef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ore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mag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occ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u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>
              <a:lnSpc>
                <a:spcPts val="3304"/>
              </a:lnSpc>
              <a:spcBef>
                <a:spcPct val="0"/>
              </a:spcBef>
            </a:pPr>
          </a:p>
          <a:p>
            <a:pPr algn="l" marL="625746" indent="-312873" lvl="1">
              <a:lnSpc>
                <a:spcPts val="3304"/>
              </a:lnSpc>
              <a:spcBef>
                <a:spcPct val="0"/>
              </a:spcBef>
              <a:buFont typeface="Arial"/>
              <a:buChar char="•"/>
            </a:pP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Need f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or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AI-Dr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ven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uti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: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ctiv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ing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g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detec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n are 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ssen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ial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stay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he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 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of thre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ts</a:t>
            </a:r>
            <a:r>
              <a:rPr lang="en-US" sz="2898" strike="noStrike" u="none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.</a:t>
            </a:r>
          </a:p>
          <a:p>
            <a:pPr algn="l" marL="0" indent="0" lvl="0">
              <a:lnSpc>
                <a:spcPts val="3304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2884941" y="4966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97621" y="2296655"/>
            <a:ext cx="7753609" cy="6118303"/>
          </a:xfrm>
          <a:custGeom>
            <a:avLst/>
            <a:gdLst/>
            <a:ahLst/>
            <a:cxnLst/>
            <a:rect r="r" b="b" t="t" l="l"/>
            <a:pathLst>
              <a:path h="6118303" w="7753609">
                <a:moveTo>
                  <a:pt x="0" y="0"/>
                </a:moveTo>
                <a:lnTo>
                  <a:pt x="7753609" y="0"/>
                </a:lnTo>
                <a:lnTo>
                  <a:pt x="7753609" y="6118303"/>
                </a:lnTo>
                <a:lnTo>
                  <a:pt x="0" y="61183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7593688" y="5034854"/>
            <a:ext cx="1388624" cy="2300421"/>
            <a:chOff x="0" y="0"/>
            <a:chExt cx="365728" cy="6058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28" cy="605872"/>
            </a:xfrm>
            <a:custGeom>
              <a:avLst/>
              <a:gdLst/>
              <a:ahLst/>
              <a:cxnLst/>
              <a:rect r="r" b="b" t="t" l="l"/>
              <a:pathLst>
                <a:path h="605872" w="365728">
                  <a:moveTo>
                    <a:pt x="0" y="0"/>
                  </a:moveTo>
                  <a:lnTo>
                    <a:pt x="365728" y="0"/>
                  </a:lnTo>
                  <a:lnTo>
                    <a:pt x="365728" y="605872"/>
                  </a:lnTo>
                  <a:lnTo>
                    <a:pt x="0" y="605872"/>
                  </a:lnTo>
                  <a:close/>
                </a:path>
              </a:pathLst>
            </a:custGeom>
            <a:solidFill>
              <a:srgbClr val="064CD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365728" cy="6344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694832" y="5355807"/>
            <a:ext cx="1186336" cy="1607106"/>
          </a:xfrm>
          <a:custGeom>
            <a:avLst/>
            <a:gdLst/>
            <a:ahLst/>
            <a:cxnLst/>
            <a:rect r="r" b="b" t="t" l="l"/>
            <a:pathLst>
              <a:path h="1607106" w="1186336">
                <a:moveTo>
                  <a:pt x="0" y="0"/>
                </a:moveTo>
                <a:lnTo>
                  <a:pt x="1186336" y="0"/>
                </a:lnTo>
                <a:lnTo>
                  <a:pt x="1186336" y="1607105"/>
                </a:lnTo>
                <a:lnTo>
                  <a:pt x="0" y="1607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950206" y="9148383"/>
            <a:ext cx="2592336" cy="731379"/>
            <a:chOff x="0" y="0"/>
            <a:chExt cx="682755" cy="192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89432" y="1998555"/>
            <a:ext cx="7139243" cy="4114800"/>
          </a:xfrm>
          <a:custGeom>
            <a:avLst/>
            <a:gdLst/>
            <a:ahLst/>
            <a:cxnLst/>
            <a:rect r="r" b="b" t="t" l="l"/>
            <a:pathLst>
              <a:path h="4114800" w="7139243">
                <a:moveTo>
                  <a:pt x="0" y="0"/>
                </a:moveTo>
                <a:lnTo>
                  <a:pt x="7139243" y="0"/>
                </a:lnTo>
                <a:lnTo>
                  <a:pt x="71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759616" y="4291466"/>
            <a:ext cx="3028032" cy="3426785"/>
          </a:xfrm>
          <a:custGeom>
            <a:avLst/>
            <a:gdLst/>
            <a:ahLst/>
            <a:cxnLst/>
            <a:rect r="r" b="b" t="t" l="l"/>
            <a:pathLst>
              <a:path h="3426785" w="3028032">
                <a:moveTo>
                  <a:pt x="0" y="0"/>
                </a:moveTo>
                <a:lnTo>
                  <a:pt x="3028032" y="0"/>
                </a:lnTo>
                <a:lnTo>
                  <a:pt x="3028032" y="3426786"/>
                </a:lnTo>
                <a:lnTo>
                  <a:pt x="0" y="3426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669888" y="5818180"/>
            <a:ext cx="1589165" cy="1577608"/>
          </a:xfrm>
          <a:custGeom>
            <a:avLst/>
            <a:gdLst/>
            <a:ahLst/>
            <a:cxnLst/>
            <a:rect r="r" b="b" t="t" l="l"/>
            <a:pathLst>
              <a:path h="1577608" w="1589165">
                <a:moveTo>
                  <a:pt x="0" y="0"/>
                </a:moveTo>
                <a:lnTo>
                  <a:pt x="1589165" y="0"/>
                </a:lnTo>
                <a:lnTo>
                  <a:pt x="1589165" y="1577608"/>
                </a:lnTo>
                <a:lnTo>
                  <a:pt x="0" y="15776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06400" y="2204946"/>
            <a:ext cx="8013031" cy="27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 What We Offer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AI-p</a:t>
            </a: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owered system to detect, predict, and prevent cyber threats in real-time.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Intelligent dashboard for easy monitoring and reporting.</a:t>
            </a:r>
          </a:p>
          <a:p>
            <a:pPr algn="l">
              <a:lnSpc>
                <a:spcPts val="3721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145614" y="594498"/>
            <a:ext cx="7088850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Proposed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400" y="4615322"/>
            <a:ext cx="8419431" cy="27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How It Works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Data Collection: Monitors network and system activities continuously.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</a:t>
            </a: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 Analysis: Uses machine learning to identify unusual patterns or anomalies.</a:t>
            </a:r>
          </a:p>
          <a:p>
            <a:pPr algn="l">
              <a:lnSpc>
                <a:spcPts val="372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06400" y="7162040"/>
            <a:ext cx="11365831" cy="3247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  <a:r>
              <a:rPr lang="en-US" sz="265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3. Why It’s Unique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Proactive Defense: Stops threats before they cause harm.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Adaptive Learning: System improves over time by learning from past threats.</a:t>
            </a:r>
          </a:p>
          <a:p>
            <a:pPr algn="l" marL="573833" indent="-286917" lvl="1">
              <a:lnSpc>
                <a:spcPts val="3721"/>
              </a:lnSpc>
              <a:buFont typeface="Arial"/>
              <a:buChar char="•"/>
            </a:pPr>
            <a:r>
              <a:rPr lang="en-US" sz="265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Scalable: Can be deployed for individuals, businesses, or government networks.</a:t>
            </a:r>
          </a:p>
          <a:p>
            <a:pPr algn="l">
              <a:lnSpc>
                <a:spcPts val="372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323749" y="-3532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5921" y="1867072"/>
            <a:ext cx="8204610" cy="8304850"/>
          </a:xfrm>
          <a:custGeom>
            <a:avLst/>
            <a:gdLst/>
            <a:ahLst/>
            <a:cxnLst/>
            <a:rect r="r" b="b" t="t" l="l"/>
            <a:pathLst>
              <a:path h="8304850" w="8204610">
                <a:moveTo>
                  <a:pt x="0" y="0"/>
                </a:moveTo>
                <a:lnTo>
                  <a:pt x="8204610" y="0"/>
                </a:lnTo>
                <a:lnTo>
                  <a:pt x="8204610" y="8304850"/>
                </a:lnTo>
                <a:lnTo>
                  <a:pt x="0" y="830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0" t="0" r="-61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6008549" y="281628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341691" y="1948064"/>
            <a:ext cx="8223858" cy="8223858"/>
          </a:xfrm>
          <a:custGeom>
            <a:avLst/>
            <a:gdLst/>
            <a:ahLst/>
            <a:cxnLst/>
            <a:rect r="r" b="b" t="t" l="l"/>
            <a:pathLst>
              <a:path h="8223858" w="8223858">
                <a:moveTo>
                  <a:pt x="0" y="0"/>
                </a:moveTo>
                <a:lnTo>
                  <a:pt x="8223858" y="0"/>
                </a:lnTo>
                <a:lnTo>
                  <a:pt x="8223858" y="8223858"/>
                </a:lnTo>
                <a:lnTo>
                  <a:pt x="0" y="82238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3657600" y="-322061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75921" y="381404"/>
            <a:ext cx="8968450" cy="148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2"/>
              </a:lnSpc>
            </a:pPr>
            <a:r>
              <a:rPr lang="en-US" sz="62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System Architecture / Workflow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211542" y="9222710"/>
            <a:ext cx="1268989" cy="949211"/>
            <a:chOff x="0" y="0"/>
            <a:chExt cx="334219" cy="249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4219" cy="249998"/>
            </a:xfrm>
            <a:custGeom>
              <a:avLst/>
              <a:gdLst/>
              <a:ahLst/>
              <a:cxnLst/>
              <a:rect r="r" b="b" t="t" l="l"/>
              <a:pathLst>
                <a:path h="249998" w="334219">
                  <a:moveTo>
                    <a:pt x="0" y="0"/>
                  </a:moveTo>
                  <a:lnTo>
                    <a:pt x="334219" y="0"/>
                  </a:lnTo>
                  <a:lnTo>
                    <a:pt x="334219" y="249998"/>
                  </a:lnTo>
                  <a:lnTo>
                    <a:pt x="0" y="249998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34219" cy="2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96560" y="9222710"/>
            <a:ext cx="1268989" cy="949211"/>
            <a:chOff x="0" y="0"/>
            <a:chExt cx="334219" cy="2499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4219" cy="249998"/>
            </a:xfrm>
            <a:custGeom>
              <a:avLst/>
              <a:gdLst/>
              <a:ahLst/>
              <a:cxnLst/>
              <a:rect r="r" b="b" t="t" l="l"/>
              <a:pathLst>
                <a:path h="249998" w="334219">
                  <a:moveTo>
                    <a:pt x="0" y="0"/>
                  </a:moveTo>
                  <a:lnTo>
                    <a:pt x="334219" y="0"/>
                  </a:lnTo>
                  <a:lnTo>
                    <a:pt x="334219" y="249998"/>
                  </a:lnTo>
                  <a:lnTo>
                    <a:pt x="0" y="249998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34219" cy="2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75921" y="1867072"/>
            <a:ext cx="1268989" cy="949211"/>
            <a:chOff x="0" y="0"/>
            <a:chExt cx="334219" cy="2499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4219" cy="249998"/>
            </a:xfrm>
            <a:custGeom>
              <a:avLst/>
              <a:gdLst/>
              <a:ahLst/>
              <a:cxnLst/>
              <a:rect r="r" b="b" t="t" l="l"/>
              <a:pathLst>
                <a:path h="249998" w="334219">
                  <a:moveTo>
                    <a:pt x="0" y="0"/>
                  </a:moveTo>
                  <a:lnTo>
                    <a:pt x="334219" y="0"/>
                  </a:lnTo>
                  <a:lnTo>
                    <a:pt x="334219" y="249998"/>
                  </a:lnTo>
                  <a:lnTo>
                    <a:pt x="0" y="249998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334219" cy="2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341691" y="1948064"/>
            <a:ext cx="1268989" cy="949211"/>
            <a:chOff x="0" y="0"/>
            <a:chExt cx="334219" cy="2499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4219" cy="249998"/>
            </a:xfrm>
            <a:custGeom>
              <a:avLst/>
              <a:gdLst/>
              <a:ahLst/>
              <a:cxnLst/>
              <a:rect r="r" b="b" t="t" l="l"/>
              <a:pathLst>
                <a:path h="249998" w="334219">
                  <a:moveTo>
                    <a:pt x="0" y="0"/>
                  </a:moveTo>
                  <a:lnTo>
                    <a:pt x="334219" y="0"/>
                  </a:lnTo>
                  <a:lnTo>
                    <a:pt x="334219" y="249998"/>
                  </a:lnTo>
                  <a:lnTo>
                    <a:pt x="0" y="249998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34219" cy="2785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true" flipV="false" rot="0">
            <a:off x="6138420" y="9639907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666964" y="1028700"/>
            <a:ext cx="2592336" cy="731379"/>
            <a:chOff x="0" y="0"/>
            <a:chExt cx="682755" cy="1926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3326" y="1701486"/>
            <a:ext cx="5069148" cy="6884028"/>
          </a:xfrm>
          <a:custGeom>
            <a:avLst/>
            <a:gdLst/>
            <a:ahLst/>
            <a:cxnLst/>
            <a:rect r="r" b="b" t="t" l="l"/>
            <a:pathLst>
              <a:path h="6884028" w="5069148">
                <a:moveTo>
                  <a:pt x="0" y="0"/>
                </a:moveTo>
                <a:lnTo>
                  <a:pt x="5069148" y="0"/>
                </a:lnTo>
                <a:lnTo>
                  <a:pt x="5069148" y="6884028"/>
                </a:lnTo>
                <a:lnTo>
                  <a:pt x="0" y="688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871128" y="2972354"/>
            <a:ext cx="2833743" cy="3154977"/>
          </a:xfrm>
          <a:custGeom>
            <a:avLst/>
            <a:gdLst/>
            <a:ahLst/>
            <a:cxnLst/>
            <a:rect r="r" b="b" t="t" l="l"/>
            <a:pathLst>
              <a:path h="3154977" w="2833743">
                <a:moveTo>
                  <a:pt x="0" y="0"/>
                </a:moveTo>
                <a:lnTo>
                  <a:pt x="2833744" y="0"/>
                </a:lnTo>
                <a:lnTo>
                  <a:pt x="2833744" y="3154978"/>
                </a:lnTo>
                <a:lnTo>
                  <a:pt x="0" y="3154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20700" y="2568687"/>
            <a:ext cx="11318036" cy="314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8"/>
              </a:lnSpc>
            </a:pPr>
            <a:r>
              <a:rPr lang="en-US" sz="2984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1.Features:</a:t>
            </a:r>
          </a:p>
          <a:p>
            <a:pPr algn="l" marL="644381" indent="-322190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Real-time threat detection and alerts</a:t>
            </a:r>
          </a:p>
          <a:p>
            <a:pPr algn="l" marL="644381" indent="-322190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AI-powered analysis &amp; predictions</a:t>
            </a:r>
          </a:p>
          <a:p>
            <a:pPr algn="l" marL="644381" indent="-322190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User-friendly dashboard &amp; reports</a:t>
            </a:r>
          </a:p>
          <a:p>
            <a:pPr algn="l" marL="644381" indent="-322190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Scalable for individuals &amp; organizations</a:t>
            </a:r>
          </a:p>
          <a:p>
            <a:pPr algn="l">
              <a:lnSpc>
                <a:spcPts val="4178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96226" y="5851391"/>
            <a:ext cx="16820836" cy="4179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1"/>
              </a:lnSpc>
            </a:pPr>
            <a:r>
              <a:rPr lang="en-US" sz="2722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Technology Stack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Programming Languages: Python.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AI/ML Models: supervised learning algorithms(logistic regression)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Database &amp; Storage: SQL / NoSQL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Frameworks &amp; Libraries: Scikit-learn.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Web &amp; Dashboard: HTML, CSS, Streamlit.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APIs &amp; Integrations: REST APIs for data ingestion and notifications</a:t>
            </a:r>
          </a:p>
          <a:p>
            <a:pPr algn="l" marL="564467" indent="-282234" lvl="1">
              <a:lnSpc>
                <a:spcPts val="3660"/>
              </a:lnSpc>
              <a:buFont typeface="Arial"/>
              <a:buChar char="•"/>
            </a:pPr>
            <a:r>
              <a:rPr lang="en-US" sz="2614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Deployment:  local servers</a:t>
            </a:r>
          </a:p>
          <a:p>
            <a:pPr algn="l">
              <a:lnSpc>
                <a:spcPts val="366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-2143522" y="-196077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92100" y="706310"/>
            <a:ext cx="11546636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Features And</a:t>
            </a:r>
          </a:p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Technology S</a:t>
            </a: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tack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156186" y="741507"/>
            <a:ext cx="2592336" cy="731379"/>
            <a:chOff x="0" y="0"/>
            <a:chExt cx="682755" cy="192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89322" y="902040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168922" y="-3532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27864" y="2099536"/>
            <a:ext cx="17035159" cy="7452882"/>
          </a:xfrm>
          <a:custGeom>
            <a:avLst/>
            <a:gdLst/>
            <a:ahLst/>
            <a:cxnLst/>
            <a:rect r="r" b="b" t="t" l="l"/>
            <a:pathLst>
              <a:path h="7452882" w="17035159">
                <a:moveTo>
                  <a:pt x="0" y="0"/>
                </a:moveTo>
                <a:lnTo>
                  <a:pt x="17035159" y="0"/>
                </a:lnTo>
                <a:lnTo>
                  <a:pt x="17035159" y="7452882"/>
                </a:lnTo>
                <a:lnTo>
                  <a:pt x="0" y="7452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7864" y="4725819"/>
            <a:ext cx="16931436" cy="835362"/>
          </a:xfrm>
          <a:custGeom>
            <a:avLst/>
            <a:gdLst/>
            <a:ahLst/>
            <a:cxnLst/>
            <a:rect r="r" b="b" t="t" l="l"/>
            <a:pathLst>
              <a:path h="835362" w="16931436">
                <a:moveTo>
                  <a:pt x="0" y="0"/>
                </a:moveTo>
                <a:lnTo>
                  <a:pt x="16931436" y="0"/>
                </a:lnTo>
                <a:lnTo>
                  <a:pt x="16931436" y="835362"/>
                </a:lnTo>
                <a:lnTo>
                  <a:pt x="0" y="835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6323" r="0" b="-35557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9773" y="3950119"/>
            <a:ext cx="1654211" cy="501276"/>
          </a:xfrm>
          <a:custGeom>
            <a:avLst/>
            <a:gdLst/>
            <a:ahLst/>
            <a:cxnLst/>
            <a:rect r="r" b="b" t="t" l="l"/>
            <a:pathLst>
              <a:path h="501276" w="1654211">
                <a:moveTo>
                  <a:pt x="0" y="0"/>
                </a:moveTo>
                <a:lnTo>
                  <a:pt x="1654210" y="0"/>
                </a:lnTo>
                <a:lnTo>
                  <a:pt x="1654210" y="501276"/>
                </a:lnTo>
                <a:lnTo>
                  <a:pt x="0" y="501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19654" y="8564622"/>
            <a:ext cx="739646" cy="911562"/>
          </a:xfrm>
          <a:custGeom>
            <a:avLst/>
            <a:gdLst/>
            <a:ahLst/>
            <a:cxnLst/>
            <a:rect r="r" b="b" t="t" l="l"/>
            <a:pathLst>
              <a:path h="911562" w="739646">
                <a:moveTo>
                  <a:pt x="0" y="0"/>
                </a:moveTo>
                <a:lnTo>
                  <a:pt x="739646" y="0"/>
                </a:lnTo>
                <a:lnTo>
                  <a:pt x="739646" y="911562"/>
                </a:lnTo>
                <a:lnTo>
                  <a:pt x="0" y="9115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013463" b="-15046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7864" y="340620"/>
            <a:ext cx="7088850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Compar</a:t>
            </a: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ison &amp; Advantages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6489" y="1028700"/>
            <a:ext cx="2592336" cy="731379"/>
            <a:chOff x="0" y="0"/>
            <a:chExt cx="682755" cy="1926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37397" y="5164983"/>
            <a:ext cx="5643891" cy="4176480"/>
          </a:xfrm>
          <a:custGeom>
            <a:avLst/>
            <a:gdLst/>
            <a:ahLst/>
            <a:cxnLst/>
            <a:rect r="r" b="b" t="t" l="l"/>
            <a:pathLst>
              <a:path h="4176480" w="5643891">
                <a:moveTo>
                  <a:pt x="0" y="0"/>
                </a:moveTo>
                <a:lnTo>
                  <a:pt x="5643891" y="0"/>
                </a:lnTo>
                <a:lnTo>
                  <a:pt x="5643891" y="4176480"/>
                </a:lnTo>
                <a:lnTo>
                  <a:pt x="0" y="41764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051681" y="3936343"/>
            <a:ext cx="2696841" cy="2696841"/>
          </a:xfrm>
          <a:custGeom>
            <a:avLst/>
            <a:gdLst/>
            <a:ahLst/>
            <a:cxnLst/>
            <a:rect r="r" b="b" t="t" l="l"/>
            <a:pathLst>
              <a:path h="2696841" w="2696841">
                <a:moveTo>
                  <a:pt x="0" y="0"/>
                </a:moveTo>
                <a:lnTo>
                  <a:pt x="2696841" y="0"/>
                </a:lnTo>
                <a:lnTo>
                  <a:pt x="2696841" y="2696841"/>
                </a:lnTo>
                <a:lnTo>
                  <a:pt x="0" y="2696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991832" y="3621597"/>
            <a:ext cx="2592336" cy="2592336"/>
          </a:xfrm>
          <a:custGeom>
            <a:avLst/>
            <a:gdLst/>
            <a:ahLst/>
            <a:cxnLst/>
            <a:rect r="r" b="b" t="t" l="l"/>
            <a:pathLst>
              <a:path h="2592336" w="2592336">
                <a:moveTo>
                  <a:pt x="0" y="0"/>
                </a:moveTo>
                <a:lnTo>
                  <a:pt x="2592336" y="0"/>
                </a:lnTo>
                <a:lnTo>
                  <a:pt x="2592336" y="2592336"/>
                </a:lnTo>
                <a:lnTo>
                  <a:pt x="0" y="2592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228197" y="7367509"/>
            <a:ext cx="2059803" cy="2044823"/>
          </a:xfrm>
          <a:custGeom>
            <a:avLst/>
            <a:gdLst/>
            <a:ahLst/>
            <a:cxnLst/>
            <a:rect r="r" b="b" t="t" l="l"/>
            <a:pathLst>
              <a:path h="2044823" w="2059803">
                <a:moveTo>
                  <a:pt x="0" y="0"/>
                </a:moveTo>
                <a:lnTo>
                  <a:pt x="2059803" y="0"/>
                </a:lnTo>
                <a:lnTo>
                  <a:pt x="2059803" y="2044823"/>
                </a:lnTo>
                <a:lnTo>
                  <a:pt x="0" y="20448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6228197" y="2267175"/>
            <a:ext cx="2427254" cy="1588748"/>
          </a:xfrm>
          <a:custGeom>
            <a:avLst/>
            <a:gdLst/>
            <a:ahLst/>
            <a:cxnLst/>
            <a:rect r="r" b="b" t="t" l="l"/>
            <a:pathLst>
              <a:path h="1588748" w="2427254">
                <a:moveTo>
                  <a:pt x="0" y="0"/>
                </a:moveTo>
                <a:lnTo>
                  <a:pt x="2427253" y="0"/>
                </a:lnTo>
                <a:lnTo>
                  <a:pt x="2427253" y="1588748"/>
                </a:lnTo>
                <a:lnTo>
                  <a:pt x="0" y="1588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407317" y="2219550"/>
            <a:ext cx="13872964" cy="783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1.Target Users / Applications: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Government Agencies: Real-time monitoring &amp; national cybersecurity.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Organizations / Enterprises: Protects sensitive business data and networks.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Individuals / SMEs: Secures personal and small-scale digital assets.</a:t>
            </a:r>
          </a:p>
          <a:p>
            <a:pPr algn="l">
              <a:lnSpc>
                <a:spcPts val="3482"/>
              </a:lnSpc>
            </a:pPr>
          </a:p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2. Practical Benefits: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Proactive threat detection and prevention.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Real-time alerts for fast response.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Scalable and adaptable across sectors.</a:t>
            </a:r>
          </a:p>
          <a:p>
            <a:pPr algn="l">
              <a:lnSpc>
                <a:spcPts val="3482"/>
              </a:lnSpc>
            </a:pPr>
          </a:p>
          <a:p>
            <a:pPr algn="l">
              <a:lnSpc>
                <a:spcPts val="3482"/>
              </a:lnSpc>
            </a:pPr>
            <a:r>
              <a:rPr lang="en-US" sz="2487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3. Funding &amp; Support Needed:</a:t>
            </a:r>
          </a:p>
          <a:p>
            <a:pPr algn="l" marL="537113" indent="-268557" lvl="1">
              <a:lnSpc>
                <a:spcPts val="3482"/>
              </a:lnSpc>
              <a:buFont typeface="Arial"/>
              <a:buChar char="•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Approx </a:t>
            </a:r>
            <a:r>
              <a:rPr lang="en-US" sz="2487" u="sng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₹1.5–2 Lakh </a:t>
            </a: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for:</a:t>
            </a:r>
          </a:p>
          <a:p>
            <a:pPr algn="l" marL="1074227" indent="-358076" lvl="2">
              <a:lnSpc>
                <a:spcPts val="3482"/>
              </a:lnSpc>
              <a:buFont typeface="Arial"/>
              <a:buChar char="⚬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Server setup and API hosting</a:t>
            </a:r>
          </a:p>
          <a:p>
            <a:pPr algn="l" marL="1074227" indent="-358076" lvl="2">
              <a:lnSpc>
                <a:spcPts val="3482"/>
              </a:lnSpc>
              <a:buFont typeface="Arial"/>
              <a:buChar char="⚬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Mobile app development tools &amp; licensing</a:t>
            </a:r>
          </a:p>
          <a:p>
            <a:pPr algn="l" marL="1074227" indent="-358076" lvl="2">
              <a:lnSpc>
                <a:spcPts val="3482"/>
              </a:lnSpc>
              <a:buFont typeface="Arial"/>
              <a:buChar char="⚬"/>
            </a:pPr>
            <a:r>
              <a:rPr lang="en-US" sz="24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Model optimization for real-time AI inference</a:t>
            </a:r>
          </a:p>
          <a:p>
            <a:pPr algn="l">
              <a:lnSpc>
                <a:spcPts val="3482"/>
              </a:lnSpc>
            </a:pPr>
          </a:p>
          <a:p>
            <a:pPr algn="l" marL="493934" indent="-246967" lvl="1">
              <a:lnSpc>
                <a:spcPts val="3202"/>
              </a:lnSpc>
              <a:buFont typeface="Arial"/>
              <a:buChar char="•"/>
            </a:pPr>
            <a:r>
              <a:rPr lang="en-US" b="true" sz="2287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Mentorship / Guidance</a:t>
            </a:r>
            <a:r>
              <a:rPr lang="en-US" sz="2287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: Cybersecurity experts for validation and improvement</a:t>
            </a:r>
          </a:p>
          <a:p>
            <a:pPr algn="l">
              <a:lnSpc>
                <a:spcPts val="348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3090922" y="8809448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-2118122" y="41352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78717" y="340620"/>
            <a:ext cx="10670250" cy="1557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Business Model  Practical Applica</a:t>
            </a:r>
            <a:r>
              <a:rPr lang="en-US" sz="650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36717" y="275158"/>
            <a:ext cx="10670250" cy="83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5"/>
              </a:lnSpc>
            </a:pPr>
            <a:r>
              <a:rPr lang="en-US" sz="6500" b="true">
                <a:solidFill>
                  <a:srgbClr val="01114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&amp;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932029" y="1111863"/>
            <a:ext cx="2592336" cy="731379"/>
            <a:chOff x="0" y="0"/>
            <a:chExt cx="682755" cy="192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61782"/>
            <a:ext cx="10998225" cy="6085958"/>
            <a:chOff x="0" y="0"/>
            <a:chExt cx="2896652" cy="1602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96652" cy="1602886"/>
            </a:xfrm>
            <a:custGeom>
              <a:avLst/>
              <a:gdLst/>
              <a:ahLst/>
              <a:cxnLst/>
              <a:rect r="r" b="b" t="t" l="l"/>
              <a:pathLst>
                <a:path h="1602886" w="2896652">
                  <a:moveTo>
                    <a:pt x="35900" y="0"/>
                  </a:moveTo>
                  <a:lnTo>
                    <a:pt x="2860752" y="0"/>
                  </a:lnTo>
                  <a:cubicBezTo>
                    <a:pt x="2870273" y="0"/>
                    <a:pt x="2879404" y="3782"/>
                    <a:pt x="2886137" y="10515"/>
                  </a:cubicBezTo>
                  <a:cubicBezTo>
                    <a:pt x="2892870" y="17247"/>
                    <a:pt x="2896652" y="26379"/>
                    <a:pt x="2896652" y="35900"/>
                  </a:cubicBezTo>
                  <a:lnTo>
                    <a:pt x="2896652" y="1566986"/>
                  </a:lnTo>
                  <a:cubicBezTo>
                    <a:pt x="2896652" y="1576507"/>
                    <a:pt x="2892870" y="1585638"/>
                    <a:pt x="2886137" y="1592371"/>
                  </a:cubicBezTo>
                  <a:cubicBezTo>
                    <a:pt x="2879404" y="1599104"/>
                    <a:pt x="2870273" y="1602886"/>
                    <a:pt x="2860752" y="1602886"/>
                  </a:cubicBezTo>
                  <a:lnTo>
                    <a:pt x="35900" y="1602886"/>
                  </a:lnTo>
                  <a:cubicBezTo>
                    <a:pt x="16073" y="1602886"/>
                    <a:pt x="0" y="1586813"/>
                    <a:pt x="0" y="1566986"/>
                  </a:cubicBezTo>
                  <a:lnTo>
                    <a:pt x="0" y="35900"/>
                  </a:lnTo>
                  <a:cubicBezTo>
                    <a:pt x="0" y="16073"/>
                    <a:pt x="16073" y="0"/>
                    <a:pt x="35900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896652" cy="1631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33634" y="1760079"/>
            <a:ext cx="5502605" cy="7327924"/>
          </a:xfrm>
          <a:custGeom>
            <a:avLst/>
            <a:gdLst/>
            <a:ahLst/>
            <a:cxnLst/>
            <a:rect r="r" b="b" t="t" l="l"/>
            <a:pathLst>
              <a:path h="7327924" w="5502605">
                <a:moveTo>
                  <a:pt x="0" y="0"/>
                </a:moveTo>
                <a:lnTo>
                  <a:pt x="5502605" y="0"/>
                </a:lnTo>
                <a:lnTo>
                  <a:pt x="5502605" y="7327924"/>
                </a:lnTo>
                <a:lnTo>
                  <a:pt x="0" y="7327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6074065" y="3132865"/>
            <a:ext cx="1903989" cy="3117623"/>
            <a:chOff x="0" y="0"/>
            <a:chExt cx="501462" cy="8211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1462" cy="821102"/>
            </a:xfrm>
            <a:custGeom>
              <a:avLst/>
              <a:gdLst/>
              <a:ahLst/>
              <a:cxnLst/>
              <a:rect r="r" b="b" t="t" l="l"/>
              <a:pathLst>
                <a:path h="821102" w="501462">
                  <a:moveTo>
                    <a:pt x="0" y="0"/>
                  </a:moveTo>
                  <a:lnTo>
                    <a:pt x="501462" y="0"/>
                  </a:lnTo>
                  <a:lnTo>
                    <a:pt x="501462" y="821102"/>
                  </a:lnTo>
                  <a:lnTo>
                    <a:pt x="0" y="821102"/>
                  </a:ln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01462" cy="849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040327" y="3722814"/>
            <a:ext cx="1937726" cy="1937726"/>
          </a:xfrm>
          <a:custGeom>
            <a:avLst/>
            <a:gdLst/>
            <a:ahLst/>
            <a:cxnLst/>
            <a:rect r="r" b="b" t="t" l="l"/>
            <a:pathLst>
              <a:path h="1937726" w="1937726">
                <a:moveTo>
                  <a:pt x="0" y="0"/>
                </a:moveTo>
                <a:lnTo>
                  <a:pt x="1937727" y="0"/>
                </a:lnTo>
                <a:lnTo>
                  <a:pt x="1937727" y="1937726"/>
                </a:lnTo>
                <a:lnTo>
                  <a:pt x="0" y="19377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35694" y="3313840"/>
            <a:ext cx="7088850" cy="80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5"/>
              </a:lnSpc>
            </a:pPr>
            <a:r>
              <a:rPr lang="en-US" b="true" sz="6500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2512" y="4308959"/>
            <a:ext cx="9290600" cy="3414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9"/>
              </a:lnSpc>
            </a:pPr>
            <a:r>
              <a:rPr lang="en-US" sz="244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Our AI-enabled Cyber Threat Analyzer provides real-time detection and prevention of cyber threats using intelligent AI and user-friendly dashboards. It ensures secure, scalable, and reliable protection for individuals, organizations, and governments</a:t>
            </a:r>
          </a:p>
          <a:p>
            <a:pPr algn="ctr">
              <a:lnSpc>
                <a:spcPts val="3429"/>
              </a:lnSpc>
            </a:pPr>
          </a:p>
          <a:p>
            <a:pPr algn="ctr">
              <a:lnSpc>
                <a:spcPts val="3429"/>
              </a:lnSpc>
            </a:pPr>
          </a:p>
          <a:p>
            <a:pPr algn="ctr">
              <a:lnSpc>
                <a:spcPts val="3429"/>
              </a:lnSpc>
            </a:pPr>
            <a:r>
              <a:rPr lang="en-US" sz="244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(Shall we present a live demo)</a:t>
            </a:r>
          </a:p>
        </p:txBody>
      </p:sp>
      <p:sp>
        <p:nvSpPr>
          <p:cNvPr name="Freeform 12" id="12"/>
          <p:cNvSpPr/>
          <p:nvPr/>
        </p:nvSpPr>
        <p:spPr>
          <a:xfrm flipH="true" flipV="false" rot="0">
            <a:off x="-3318366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764948" y="69605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586345" y="663010"/>
            <a:ext cx="2592336" cy="731379"/>
            <a:chOff x="0" y="0"/>
            <a:chExt cx="682755" cy="1926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466432" y="5215515"/>
            <a:ext cx="3792868" cy="4042785"/>
          </a:xfrm>
          <a:custGeom>
            <a:avLst/>
            <a:gdLst/>
            <a:ahLst/>
            <a:cxnLst/>
            <a:rect r="r" b="b" t="t" l="l"/>
            <a:pathLst>
              <a:path h="4042785" w="3792868">
                <a:moveTo>
                  <a:pt x="0" y="0"/>
                </a:moveTo>
                <a:lnTo>
                  <a:pt x="3792868" y="0"/>
                </a:lnTo>
                <a:lnTo>
                  <a:pt x="3792868" y="4042785"/>
                </a:lnTo>
                <a:lnTo>
                  <a:pt x="0" y="40427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89322" y="9020403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168922" y="-35329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29"/>
                </a:lnTo>
                <a:lnTo>
                  <a:pt x="7315200" y="106402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5223486" y="297321"/>
            <a:ext cx="2592336" cy="731379"/>
            <a:chOff x="0" y="0"/>
            <a:chExt cx="682755" cy="192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2755" cy="192627"/>
            </a:xfrm>
            <a:custGeom>
              <a:avLst/>
              <a:gdLst/>
              <a:ahLst/>
              <a:cxnLst/>
              <a:rect r="r" b="b" t="t" l="l"/>
              <a:pathLst>
                <a:path h="192627" w="682755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F1F2F6"/>
            </a:solidFill>
            <a:ln w="19050" cap="rnd">
              <a:solidFill>
                <a:srgbClr val="01114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11142"/>
                  </a:solidFill>
                  <a:latin typeface="TT Firs Neue Bold"/>
                  <a:ea typeface="TT Firs Neue Bold"/>
                  <a:cs typeface="TT Firs Neue Bold"/>
                  <a:sym typeface="TT Firs Neue Bold"/>
                </a:rPr>
                <a:t>CyberSheild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076591" y="5878082"/>
            <a:ext cx="7778912" cy="4408918"/>
          </a:xfrm>
          <a:custGeom>
            <a:avLst/>
            <a:gdLst/>
            <a:ahLst/>
            <a:cxnLst/>
            <a:rect r="r" b="b" t="t" l="l"/>
            <a:pathLst>
              <a:path h="4408918" w="7778912">
                <a:moveTo>
                  <a:pt x="0" y="0"/>
                </a:moveTo>
                <a:lnTo>
                  <a:pt x="7778912" y="0"/>
                </a:lnTo>
                <a:lnTo>
                  <a:pt x="7778912" y="4408918"/>
                </a:lnTo>
                <a:lnTo>
                  <a:pt x="0" y="4408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75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076591" y="1273980"/>
            <a:ext cx="7778912" cy="4327020"/>
          </a:xfrm>
          <a:custGeom>
            <a:avLst/>
            <a:gdLst/>
            <a:ahLst/>
            <a:cxnLst/>
            <a:rect r="r" b="b" t="t" l="l"/>
            <a:pathLst>
              <a:path h="4327020" w="7778912">
                <a:moveTo>
                  <a:pt x="0" y="0"/>
                </a:moveTo>
                <a:lnTo>
                  <a:pt x="7778912" y="0"/>
                </a:lnTo>
                <a:lnTo>
                  <a:pt x="7778912" y="4327020"/>
                </a:lnTo>
                <a:lnTo>
                  <a:pt x="0" y="4327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77478" y="3378787"/>
            <a:ext cx="5316035" cy="3529427"/>
          </a:xfrm>
          <a:custGeom>
            <a:avLst/>
            <a:gdLst/>
            <a:ahLst/>
            <a:cxnLst/>
            <a:rect r="r" b="b" t="t" l="l"/>
            <a:pathLst>
              <a:path h="3529427" w="5316035">
                <a:moveTo>
                  <a:pt x="0" y="0"/>
                </a:moveTo>
                <a:lnTo>
                  <a:pt x="5316035" y="0"/>
                </a:lnTo>
                <a:lnTo>
                  <a:pt x="5316035" y="3529426"/>
                </a:lnTo>
                <a:lnTo>
                  <a:pt x="0" y="3529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02464" y="421146"/>
            <a:ext cx="5153194" cy="113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0"/>
              </a:lnSpc>
            </a:pPr>
            <a:r>
              <a:rPr lang="en-US" sz="4725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Dem</a:t>
            </a:r>
            <a:r>
              <a:rPr lang="en-US" sz="4725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o / Screenshots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9008" y="7019677"/>
            <a:ext cx="1018778" cy="48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b="true" sz="2849" u="sng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Img-1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37533" y="3183616"/>
            <a:ext cx="1018778" cy="447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0"/>
              </a:lnSpc>
              <a:spcBef>
                <a:spcPct val="0"/>
              </a:spcBef>
            </a:pPr>
            <a:r>
              <a:rPr lang="en-US" b="true" sz="2621" u="sng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Img-2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40575" y="8025391"/>
            <a:ext cx="1018778" cy="447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4"/>
              </a:lnSpc>
              <a:spcBef>
                <a:spcPct val="0"/>
              </a:spcBef>
            </a:pPr>
            <a:r>
              <a:rPr lang="en-US" b="true" sz="2617" u="sng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Img-3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3659" y="8418154"/>
            <a:ext cx="6143673" cy="186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b="true" sz="264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Img-1: </a:t>
            </a:r>
            <a:r>
              <a:rPr lang="en-US" b="true" sz="2645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browser extension</a:t>
            </a:r>
          </a:p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b="true" sz="264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Img-2:</a:t>
            </a:r>
            <a:r>
              <a:rPr lang="en-US" b="true" sz="2645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web page</a:t>
            </a:r>
            <a:r>
              <a:rPr lang="en-US" b="true" sz="264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            </a:t>
            </a:r>
          </a:p>
          <a:p>
            <a:pPr algn="ctr">
              <a:lnSpc>
                <a:spcPts val="3703"/>
              </a:lnSpc>
              <a:spcBef>
                <a:spcPct val="0"/>
              </a:spcBef>
            </a:pPr>
            <a:r>
              <a:rPr lang="en-US" b="true" sz="264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     Img-3:</a:t>
            </a:r>
            <a:r>
              <a:rPr lang="en-US" b="true" sz="2645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classification results</a:t>
            </a:r>
            <a:r>
              <a:rPr lang="en-US" b="true" sz="2645">
                <a:solidFill>
                  <a:srgbClr val="FFFFFF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.</a:t>
            </a:r>
          </a:p>
          <a:p>
            <a:pPr algn="ctr">
              <a:lnSpc>
                <a:spcPts val="370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0C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3601700" y="8726285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607344" y="330360"/>
            <a:ext cx="7315200" cy="1064029"/>
          </a:xfrm>
          <a:custGeom>
            <a:avLst/>
            <a:gdLst/>
            <a:ahLst/>
            <a:cxnLst/>
            <a:rect r="r" b="b" t="t" l="l"/>
            <a:pathLst>
              <a:path h="1064029" w="731520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59651" y="6550361"/>
            <a:ext cx="5128349" cy="3990788"/>
          </a:xfrm>
          <a:custGeom>
            <a:avLst/>
            <a:gdLst/>
            <a:ahLst/>
            <a:cxnLst/>
            <a:rect r="r" b="b" t="t" l="l"/>
            <a:pathLst>
              <a:path h="3990788" w="5128349">
                <a:moveTo>
                  <a:pt x="0" y="0"/>
                </a:moveTo>
                <a:lnTo>
                  <a:pt x="5128349" y="0"/>
                </a:lnTo>
                <a:lnTo>
                  <a:pt x="5128349" y="3990788"/>
                </a:lnTo>
                <a:lnTo>
                  <a:pt x="0" y="3990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1358900" y="530385"/>
            <a:ext cx="18693638" cy="89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9"/>
              </a:lnSpc>
            </a:pPr>
            <a:r>
              <a:rPr lang="en-US" sz="7186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RESEARCH AND 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6369" y="1593503"/>
            <a:ext cx="17255261" cy="130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273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1.S. Pastrana, D. R. Thomas, A. Hutchings, and R. Clayton, “Crimebb: Enabling cybercrime research on underground forums at scale,” pp. 1845–1854, April 2018.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273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2. Ahmed, S. and M. Skoric (2015). Twitter and 2013 Pakistan general election: The case of David 2.0 against goliaths, pp. 139–161. Springer International Publishing.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273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3.Almohri, H. et al. (2017) ‘On Threat Modeling and Mitigation of Medical CyberPhysical Systems’, Proceedings - 2017 IEEE 2nd International Conference on Connected Health: Applications, Systems and Engineering Technologies, CHASE 2017, pp. 114–119. doi: 10.1109/CHASE.2017.69.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273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4. Patil, P., Artificial intelligence in cybersecurity. Inter rnational journal of research in computer applications and robotics, 2016. 4(5): p. 1-5.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2739">
                <a:solidFill>
                  <a:srgbClr val="011142"/>
                </a:solidFill>
                <a:latin typeface="TT Firs Neue"/>
                <a:ea typeface="TT Firs Neue"/>
                <a:cs typeface="TT Firs Neue"/>
                <a:sym typeface="TT Firs Neue"/>
              </a:rPr>
              <a:t>5.Andress, Jason and Steve Winterfeld. 2011. Cyber Warfare: Techniques, Tactics and Tools for Security Practitioners. Waltham, MA: Syngress Elsevier.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873568" y="9164165"/>
            <a:ext cx="6572165" cy="112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9"/>
              </a:lnSpc>
            </a:pPr>
            <a:r>
              <a:rPr lang="en-US" sz="9010" b="true">
                <a:solidFill>
                  <a:srgbClr val="011142"/>
                </a:solidFill>
                <a:latin typeface="TT Firs Neue Bold"/>
                <a:ea typeface="TT Firs Neue Bold"/>
                <a:cs typeface="TT Firs Neue Bold"/>
                <a:sym typeface="TT Firs Neu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DAG1-aqW_NQ</dc:identifier>
  <dcterms:modified xsi:type="dcterms:W3CDTF">2011-08-01T06:04:30Z</dcterms:modified>
  <cp:revision>1</cp:revision>
  <dc:title>Blue and White Modern Cyber Security Presentation</dc:title>
</cp:coreProperties>
</file>